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commentAuthors.xml" ContentType="application/vnd.openxmlformats-officedocument.presentationml.commentAuthors+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Lst>
  <p:sldSz cx="10080625" cy="5670550"/>
  <p:notesSz cx="7559675" cy="10691813"/>
</p:presentation>
</file>

<file path=ppt/commentAuthors.xml><?xml version="1.0" encoding="utf-8"?>
<p:cmAuthorLst xmlns:p="http://schemas.openxmlformats.org/presentationml/2006/main">
  <p:cmAuthor id="0" name="" initials="" lastIdx="5" clrIdx="0"/>
</p:cmAuthorLst>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presProps" Target="presProps.xml"/><Relationship Id="rId9" Type="http://schemas.openxmlformats.org/officeDocument/2006/relationships/commentAuthors" Target="commentAuthors.xml"/>
</Relationships>
</file>

<file path=ppt/comments/comment1.xml><?xml version="1.0" encoding="utf-8"?>
<p:cmLst xmlns:p="http://schemas.openxmlformats.org/presentationml/2006/main">
  <p:cm authorId="0" dt="2026-08-02T14:35:00.000000000" idx="1">
    <p:pos x="0" y="0"/>
    <p:text>The assignment asked to figure out where it makes sense to invest. “Where to invest” could mean looking for the safest cities (to build schools there) or the most dangerous ones (to install traffic lights or sell insurance). The dashboard has been built to address both needs. Instead of just looking at the total number of accidents, I normalized the data by population to compare municipalities of different sizes fairly.</p:text>
  </p:cm>
</p:cmLst>
</file>

<file path=ppt/comments/comment2.xml><?xml version="1.0" encoding="utf-8"?>
<p:cmLst xmlns:p="http://schemas.openxmlformats.org/presentationml/2006/main">
  <p:cm authorId="0" dt="2026-08-02T15:21:49.000000000" idx="2">
    <p:pos x="0" y="0"/>
    <p:text>The data was extracted programmatically via API to make the pipeline repeatable in the future. During the data cleaning process, a subtle issue was encountered: towns with zero incidents cannot have a fatality rate. NaN values was used to distinguish between missing data (as in this case) and zero risk, a choice that later proved to be crucial in Power BI as well.</p:text>
  </p:cm>
</p:cmLst>
</file>

<file path=ppt/comments/comment3.xml><?xml version="1.0" encoding="utf-8"?>
<p:cmLst xmlns:p="http://schemas.openxmlformats.org/presentationml/2006/main">
  <p:cm authorId="0" dt="2026-08-02T15:27:36.000000000" idx="3">
    <p:pos x="0" y="0"/>
    <p:text>The EDA confirmed that the data on Italy is highly skewed. For K-Means clustering, k=3 was chosen using the Elbow Method. The most important finding was that the “High Risk” cluster does not include large cities with many accidents, but rather towns where, when an accident occurs, it is much more likely to be fatal. So, for maximum risk, not only frequency matters, but also lethality does.</p:text>
  </p:cm>
</p:cmLst>
</file>

<file path=ppt/comments/comment4.xml><?xml version="1.0" encoding="utf-8"?>
<p:cmLst xmlns:p="http://schemas.openxmlformats.org/presentationml/2006/main">
  <p:cm authorId="0" dt="2026-08-02T15:48:49.000000000" idx="4">
    <p:pos x="0" y="0"/>
    <p:text>The dashboard is designed to be an exploratory tool. Field Parameters were used to allow the user to switch metrics (accidents, fatalities, fatality rate) with a single click, as was the year slicer, which allows for single or multiple selections. Finally, BLANK values were handled in the ranking table to prevent Power BI from displaying municipalities with no data as if they were the “safest.”</p:text>
  </p:cm>
</p:cmLst>
</file>

<file path=ppt/comments/comment5.xml><?xml version="1.0" encoding="utf-8"?>
<p:cmLst xmlns:p="http://schemas.openxmlformats.org/presentationml/2006/main">
  <p:cm authorId="0" dt="2026-08-02T16:05:50.000000000" idx="5">
    <p:pos x="0" y="0"/>
    <p:text>In conclusion, the data reveal that investing in road safety in Italy requires looking beyond the absolute numbers. Southern Italy, despite having fewer accidents in terms of volume, has higher fatality rates: a potentially critical area for investments in prevention and healthcare response. The historical downward trend suggests that the awareness campaigns and stricter penalties implemented over the past 20 years have likely been effective, but the dashboard allows us to pinpoint exactly where critical issues remain.</p:text>
  </p:cm>
</p:cmLst>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finito">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8800"/>
            <a:ext cx="9071280" cy="1341000"/>
          </a:xfrm>
          <a:prstGeom prst="rect">
            <a:avLst/>
          </a:prstGeom>
          <a:noFill/>
          <a:ln w="0">
            <a:noFill/>
          </a:ln>
        </p:spPr>
        <p:txBody>
          <a:bodyPr lIns="0" tIns="0" rIns="0" bIns="0" anchor="ctr">
            <a:spAutoFit/>
          </a:bodyPr>
          <a:p>
            <a:pPr indent="0" algn="ctr">
              <a:buNone/>
              <a:tabLst>
                <a:tab pos="0" algn="l"/>
              </a:tabLst>
            </a:pPr>
            <a:endParaRPr lang="it-IT" sz="4400" b="0" u="none" strike="noStrike">
              <a:solidFill>
                <a:srgbClr val="000000"/>
              </a:solidFill>
              <a:effectLst/>
              <a:uFillTx/>
              <a:latin typeface="Arial"/>
            </a:endParaRPr>
          </a:p>
        </p:txBody>
      </p:sp>
      <p:sp>
        <p:nvSpPr>
          <p:cNvPr id="8" name="PlaceHolder 2"/>
          <p:cNvSpPr>
            <a:spLocks noGrp="1"/>
          </p:cNvSpPr>
          <p:nvPr>
            <p:ph type="subTitle"/>
          </p:nvPr>
        </p:nvSpPr>
        <p:spPr>
          <a:xfrm>
            <a:off x="504000" y="2726280"/>
            <a:ext cx="9071280" cy="488160"/>
          </a:xfrm>
          <a:prstGeom prst="rect">
            <a:avLst/>
          </a:prstGeom>
          <a:noFill/>
          <a:ln w="0">
            <a:noFill/>
          </a:ln>
        </p:spPr>
        <p:txBody>
          <a:bodyPr lIns="0" tIns="0" rIns="0" bIns="0" anchor="ctr">
            <a:spAutoFit/>
          </a:bodyPr>
          <a:p>
            <a:pPr indent="0" algn="ctr">
              <a:buNone/>
            </a:pPr>
            <a:endParaRPr lang="it-IT"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4907519F-695A-43B8-806F-FAEBBD4B0CAF}" type="slidenum">
              <a:t>&lt;#&gt;</a:t>
            </a:fld>
          </a:p>
        </p:txBody>
      </p:sp>
      <p:sp>
        <p:nvSpPr>
          <p:cNvPr id="6" name="PlaceHolder 5"/>
          <p:cNvSpPr>
            <a:spLocks noGrp="1"/>
          </p:cNvSpPr>
          <p:nvPr>
            <p:ph type="dt" idx="3"/>
          </p:nvPr>
        </p:nvSpPr>
        <p:spPr/>
        <p:txBody>
          <a:bodyPr/>
          <a:p>
            <a:r>
              <a:rPr lang="it-IT"/>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8800"/>
            <a:ext cx="9071280" cy="1341000"/>
          </a:xfrm>
          <a:prstGeom prst="rect">
            <a:avLst/>
          </a:prstGeom>
          <a:noFill/>
          <a:ln w="0">
            <a:noFill/>
          </a:ln>
        </p:spPr>
        <p:txBody>
          <a:bodyPr lIns="0" tIns="0" rIns="0" bIns="0" anchor="ctr">
            <a:spAutoFit/>
          </a:bodyPr>
          <a:lstStyle>
            <a:lvl1pPr indent="0" algn="l">
              <a:buNone/>
              <a:tabLst>
                <a:tab pos="0" algn="l"/>
              </a:tabLst>
              <a:defRPr lang="it-IT" sz="4400" b="0" u="none" strike="noStrike">
                <a:solidFill>
                  <a:srgbClr val="000000"/>
                </a:solidFill>
                <a:effectLst/>
                <a:uFillTx/>
                <a:latin typeface="Arial"/>
              </a:defRPr>
            </a:lvl1pPr>
          </a:lstStyle>
          <a:p>
            <a:pPr indent="0" algn="l">
              <a:buNone/>
              <a:tabLst>
                <a:tab pos="0" algn="l"/>
              </a:tabLst>
            </a:pPr>
            <a:r>
              <a:rPr lang="it-IT" sz="4400" b="0" u="none" strike="noStrike">
                <a:solidFill>
                  <a:srgbClr val="000000"/>
                </a:solidFill>
                <a:effectLst/>
                <a:uFillTx/>
                <a:latin typeface="Arial"/>
              </a:rPr>
              <a:t>Fai clic per modificare il formato del testo del titolo</a:t>
            </a:r>
            <a:endParaRPr lang="it-IT" sz="4400" b="0" u="none" strike="noStrike">
              <a:solidFill>
                <a:srgbClr val="000000"/>
              </a:solidFill>
              <a:effectLst/>
              <a:uFillTx/>
              <a:latin typeface="Arial"/>
            </a:endParaRPr>
          </a:p>
        </p:txBody>
      </p:sp>
      <p:sp>
        <p:nvSpPr>
          <p:cNvPr id="3" name="PlaceHolder 2"/>
          <p:cNvSpPr>
            <a:spLocks noGrp="1"/>
          </p:cNvSpPr>
          <p:nvPr>
            <p:ph type="ftr" idx="1"/>
          </p:nvPr>
        </p:nvSpPr>
        <p:spPr>
          <a:xfrm>
            <a:off x="3447360" y="5165280"/>
            <a:ext cx="3194640" cy="390240"/>
          </a:xfrm>
          <a:prstGeom prst="rect">
            <a:avLst/>
          </a:prstGeom>
          <a:noFill/>
          <a:ln w="0">
            <a:noFill/>
          </a:ln>
        </p:spPr>
        <p:txBody>
          <a:bodyPr lIns="0" tIns="0" rIns="0" bIns="0" anchor="t">
            <a:noAutofit/>
          </a:bodyPr>
          <a:lstStyle>
            <a:lvl1pPr indent="0" algn="ctr">
              <a:lnSpc>
                <a:spcPct val="100000"/>
              </a:lnSpc>
              <a:buNone/>
              <a:tabLst>
                <a:tab pos="0" algn="l"/>
              </a:tabLst>
              <a:defRPr lang="it-IT" sz="1400" b="0" u="none" strike="noStrike">
                <a:solidFill>
                  <a:srgbClr val="000000"/>
                </a:solidFill>
                <a:effectLst/>
                <a:uFillTx/>
                <a:latin typeface="Times New Roman"/>
              </a:defRPr>
            </a:lvl1pPr>
          </a:lstStyle>
          <a:p>
            <a:pPr indent="0" algn="ctr">
              <a:lnSpc>
                <a:spcPct val="100000"/>
              </a:lnSpc>
              <a:buNone/>
              <a:tabLst>
                <a:tab pos="0" algn="l"/>
              </a:tabLst>
            </a:pPr>
            <a:r>
              <a:rPr lang="it-IT" sz="1400" b="0" u="none" strike="noStrike">
                <a:solidFill>
                  <a:srgbClr val="000000"/>
                </a:solidFill>
                <a:effectLst/>
                <a:uFillTx/>
                <a:latin typeface="Times New Roman"/>
              </a:rPr>
              <a:t>&lt;piè di pagina&gt;</a:t>
            </a:r>
            <a:endParaRPr lang="it-IT" sz="1400" b="0" u="none" strike="noStrike">
              <a:solidFill>
                <a:srgbClr val="000000"/>
              </a:solidFill>
              <a:effectLst/>
              <a:uFillTx/>
              <a:latin typeface="Times New Roman"/>
            </a:endParaRPr>
          </a:p>
        </p:txBody>
      </p:sp>
      <p:sp>
        <p:nvSpPr>
          <p:cNvPr id="4" name="PlaceHolder 3"/>
          <p:cNvSpPr>
            <a:spLocks noGrp="1"/>
          </p:cNvSpPr>
          <p:nvPr>
            <p:ph type="sldNum" idx="2"/>
          </p:nvPr>
        </p:nvSpPr>
        <p:spPr>
          <a:xfrm>
            <a:off x="7227360" y="5165280"/>
            <a:ext cx="2347920" cy="390240"/>
          </a:xfrm>
          <a:prstGeom prst="rect">
            <a:avLst/>
          </a:prstGeom>
          <a:noFill/>
          <a:ln w="0">
            <a:noFill/>
          </a:ln>
        </p:spPr>
        <p:txBody>
          <a:bodyPr lIns="0" tIns="0" rIns="0" bIns="0" anchor="t">
            <a:noAutofit/>
          </a:bodyPr>
          <a:lstStyle>
            <a:lvl1pPr indent="0" algn="r">
              <a:lnSpc>
                <a:spcPct val="100000"/>
              </a:lnSpc>
              <a:buNone/>
              <a:tabLst>
                <a:tab pos="0" algn="l"/>
              </a:tabLst>
              <a:defRPr lang="it-IT" sz="1400" b="0" u="none" strike="noStrike">
                <a:solidFill>
                  <a:srgbClr val="000000"/>
                </a:solidFill>
                <a:effectLst/>
                <a:uFillTx/>
                <a:latin typeface="Times New Roman"/>
              </a:defRPr>
            </a:lvl1pPr>
          </a:lstStyle>
          <a:p>
            <a:pPr indent="0" algn="r">
              <a:lnSpc>
                <a:spcPct val="100000"/>
              </a:lnSpc>
              <a:buNone/>
              <a:tabLst>
                <a:tab pos="0" algn="l"/>
              </a:tabLst>
            </a:pPr>
            <a:fld id="{CB325285-8918-4791-B6E1-DE30E55D7A31}" type="slidenum">
              <a:rPr lang="it-IT" sz="1400" b="0" u="none" strike="noStrike">
                <a:solidFill>
                  <a:srgbClr val="000000"/>
                </a:solidFill>
                <a:effectLst/>
                <a:uFillTx/>
                <a:latin typeface="Times New Roman"/>
              </a:rPr>
              <a:t>&lt;numero&gt;</a:t>
            </a:fld>
            <a:endParaRPr lang="it-IT" sz="1400" b="0" u="none" strike="noStrike">
              <a:solidFill>
                <a:srgbClr val="000000"/>
              </a:solidFill>
              <a:effectLst/>
              <a:uFillTx/>
              <a:latin typeface="Times New Roman"/>
            </a:endParaRPr>
          </a:p>
        </p:txBody>
      </p:sp>
      <p:sp>
        <p:nvSpPr>
          <p:cNvPr id="5" name="PlaceHolder 4"/>
          <p:cNvSpPr>
            <a:spLocks noGrp="1"/>
          </p:cNvSpPr>
          <p:nvPr>
            <p:ph type="dt" idx="3"/>
          </p:nvPr>
        </p:nvSpPr>
        <p:spPr>
          <a:xfrm>
            <a:off x="504000" y="5165280"/>
            <a:ext cx="2347920" cy="390240"/>
          </a:xfrm>
          <a:prstGeom prst="rect">
            <a:avLst/>
          </a:prstGeom>
          <a:noFill/>
          <a:ln w="0">
            <a:noFill/>
          </a:ln>
        </p:spPr>
        <p:txBody>
          <a:bodyPr lIns="0" tIns="0" rIns="0" bIns="0" anchor="t">
            <a:noAutofit/>
          </a:bodyPr>
          <a:lstStyle>
            <a:lvl1pPr indent="0" algn="l">
              <a:buNone/>
              <a:defRPr lang="it-IT" sz="1400" b="0" u="none" strike="noStrike">
                <a:solidFill>
                  <a:srgbClr val="000000"/>
                </a:solidFill>
                <a:effectLst/>
                <a:uFillTx/>
                <a:latin typeface="Times New Roman"/>
              </a:defRPr>
            </a:lvl1pPr>
          </a:lstStyle>
          <a:p>
            <a:pPr indent="0" algn="l">
              <a:buNone/>
            </a:pPr>
            <a:r>
              <a:rPr lang="it-IT" sz="1400" b="0" u="none" strike="noStrike">
                <a:solidFill>
                  <a:srgbClr val="000000"/>
                </a:solidFill>
                <a:effectLst/>
                <a:uFillTx/>
                <a:latin typeface="Times New Roman"/>
              </a:rPr>
              <a:t>&lt;data/ora&gt;</a:t>
            </a:r>
            <a:endParaRPr lang="it-IT" sz="1400" b="0" u="none" strike="noStrike">
              <a:solidFill>
                <a:srgbClr val="000000"/>
              </a:solidFill>
              <a:effectLst/>
              <a:uFillTx/>
              <a:latin typeface="Times New Roman"/>
            </a:endParaRPr>
          </a:p>
        </p:txBody>
      </p:sp>
      <p:sp>
        <p:nvSpPr>
          <p:cNvPr id="6"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it-IT"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it-IT"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it-IT"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it-IT"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it-IT"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it-IT"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it-IT" sz="2000" b="0" u="none" strike="noStrike">
                <a:solidFill>
                  <a:srgbClr val="000000"/>
                </a:solidFill>
                <a:effectLst/>
                <a:uFillTx/>
                <a:latin typeface="Arial"/>
              </a:defRPr>
            </a:lvl7pPr>
          </a:lstStyle>
          <a:p>
            <a:pPr indent="-324000" algn="l">
              <a:spcBef>
                <a:spcPts val="1417"/>
              </a:spcBef>
              <a:buClr>
                <a:srgbClr val="000000"/>
              </a:buClr>
              <a:buSzPct val="45000"/>
              <a:buFont typeface="Wingdings" charset="2"/>
              <a:buChar char=""/>
            </a:pPr>
            <a:r>
              <a:rPr lang="it-IT" sz="3200" b="0" u="none" strike="noStrike">
                <a:solidFill>
                  <a:srgbClr val="000000"/>
                </a:solidFill>
                <a:effectLst/>
                <a:uFillTx/>
                <a:latin typeface="Arial"/>
              </a:rPr>
              <a:t>Fai clic per modificare il formato del testo della struttura</a:t>
            </a:r>
            <a:endParaRPr lang="it-IT"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it-IT" sz="2800" b="0" u="none" strike="noStrike">
                <a:solidFill>
                  <a:srgbClr val="000000"/>
                </a:solidFill>
                <a:effectLst/>
                <a:uFillTx/>
                <a:latin typeface="Arial"/>
              </a:rPr>
              <a:t>Secondo livello struttura</a:t>
            </a:r>
            <a:endParaRPr lang="it-IT"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it-IT" sz="2400" b="0" u="none" strike="noStrike">
                <a:solidFill>
                  <a:srgbClr val="000000"/>
                </a:solidFill>
                <a:effectLst/>
                <a:uFillTx/>
                <a:latin typeface="Arial"/>
              </a:rPr>
              <a:t>Terzo livello struttura</a:t>
            </a:r>
            <a:endParaRPr lang="it-IT"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it-IT" sz="2000" b="0" u="none" strike="noStrike">
                <a:solidFill>
                  <a:srgbClr val="000000"/>
                </a:solidFill>
                <a:effectLst/>
                <a:uFillTx/>
                <a:latin typeface="Arial"/>
              </a:rPr>
              <a:t>Quarto livello struttura</a:t>
            </a:r>
            <a:endParaRPr lang="it-IT"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it-IT" sz="2000" b="0" u="none" strike="noStrike">
                <a:solidFill>
                  <a:srgbClr val="000000"/>
                </a:solidFill>
                <a:effectLst/>
                <a:uFillTx/>
                <a:latin typeface="Arial"/>
              </a:rPr>
              <a:t>Quinto livello struttura</a:t>
            </a:r>
            <a:endParaRPr lang="it-IT"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it-IT" sz="2000" b="0" u="none" strike="noStrike">
                <a:solidFill>
                  <a:srgbClr val="000000"/>
                </a:solidFill>
                <a:effectLst/>
                <a:uFillTx/>
                <a:latin typeface="Arial"/>
              </a:rPr>
              <a:t>Sesto livello struttura</a:t>
            </a:r>
            <a:endParaRPr lang="it-IT"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it-IT" sz="2000" b="0" u="none" strike="noStrike">
                <a:solidFill>
                  <a:srgbClr val="000000"/>
                </a:solidFill>
                <a:effectLst/>
                <a:uFillTx/>
                <a:latin typeface="Arial"/>
              </a:rPr>
              <a:t>Settimo livello struttura</a:t>
            </a:r>
            <a:endParaRPr lang="it-IT"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comments" Target="../comments/commen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5360"/>
            <a:ext cx="9071280" cy="946800"/>
          </a:xfrm>
          <a:prstGeom prst="rect">
            <a:avLst/>
          </a:prstGeom>
          <a:solidFill>
            <a:srgbClr val="666666"/>
          </a:solidFill>
          <a:ln w="0">
            <a:noFill/>
          </a:ln>
        </p:spPr>
        <p:txBody>
          <a:bodyPr lIns="0" tIns="0" rIns="0" bIns="0" anchor="ctr">
            <a:spAutoFit/>
          </a:bodyPr>
          <a:p>
            <a:pPr indent="0" algn="l">
              <a:lnSpc>
                <a:spcPct val="100000"/>
              </a:lnSpc>
              <a:buNone/>
              <a:tabLst>
                <a:tab pos="0" algn="l"/>
              </a:tabLst>
            </a:pPr>
            <a:r>
              <a:rPr lang="it-IT" sz="3200" b="0" u="none" strike="noStrike">
                <a:solidFill>
                  <a:srgbClr val="FFFFFF"/>
                </a:solidFill>
                <a:effectLst/>
                <a:uFillTx/>
                <a:latin typeface="Segoe UI Semibold"/>
              </a:rPr>
              <a:t>Italy Road Accident Risk Analysis</a:t>
            </a:r>
            <a:br>
              <a:rPr sz="3200"/>
            </a:br>
            <a:r>
              <a:rPr lang="it-IT" sz="1500" b="0" u="none" strike="noStrike">
                <a:solidFill>
                  <a:srgbClr val="FFFFFF"/>
                </a:solidFill>
                <a:effectLst/>
                <a:uFillTx/>
                <a:latin typeface="Segoe UI Semibold"/>
              </a:rPr>
              <a:t>Capstone Project – Boolean Master in Data Analytics</a:t>
            </a:r>
            <a:endParaRPr lang="it-IT" sz="1500" b="0" u="none" strike="noStrike">
              <a:solidFill>
                <a:srgbClr val="000000"/>
              </a:solidFill>
              <a:effectLst/>
              <a:uFillTx/>
              <a:latin typeface="Arial"/>
            </a:endParaRPr>
          </a:p>
        </p:txBody>
      </p:sp>
      <p:sp>
        <p:nvSpPr>
          <p:cNvPr id="10" name=""/>
          <p:cNvSpPr/>
          <p:nvPr/>
        </p:nvSpPr>
        <p:spPr>
          <a:xfrm>
            <a:off x="720000" y="1800000"/>
            <a:ext cx="8459640" cy="229068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lang="it-IT" sz="2000" b="1" i="1" u="none" strike="noStrike">
                <a:solidFill>
                  <a:srgbClr val="000000"/>
                </a:solidFill>
                <a:effectLst/>
                <a:uFillTx/>
                <a:latin typeface="Segoe UI Semibold"/>
              </a:rPr>
              <a:t>Business Problem</a:t>
            </a:r>
            <a:r>
              <a:rPr lang="it-IT" sz="1600" b="0" u="none" strike="noStrike">
                <a:solidFill>
                  <a:srgbClr val="000000"/>
                </a:solidFill>
                <a:effectLst/>
                <a:uFillTx/>
                <a:latin typeface="Segoe UI Semibold"/>
              </a:rPr>
              <a:t>: </a:t>
            </a:r>
            <a:r>
              <a:rPr lang="it-IT" sz="1600" b="0" u="none" strike="noStrike">
                <a:solidFill>
                  <a:srgbClr val="000000"/>
                </a:solidFill>
                <a:effectLst/>
                <a:uFillTx/>
                <a:latin typeface="Segoe UI"/>
              </a:rPr>
              <a:t>A risk-prevention company needs to identify the best Italian towns for road traffic investment, moving away from unreliable raw data. </a:t>
            </a:r>
            <a:endParaRPr lang="it-IT" sz="1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it-IT" sz="2000" b="1" i="1" u="none" strike="noStrike">
                <a:solidFill>
                  <a:srgbClr val="000000"/>
                </a:solidFill>
                <a:effectLst/>
                <a:uFillTx/>
                <a:latin typeface="Segoe UI Semibold"/>
              </a:rPr>
              <a:t>Objective</a:t>
            </a:r>
            <a:r>
              <a:rPr lang="it-IT" sz="1600" b="0" u="none" strike="noStrike">
                <a:solidFill>
                  <a:srgbClr val="000000"/>
                </a:solidFill>
                <a:effectLst/>
                <a:uFillTx/>
                <a:latin typeface="Segoe UI"/>
              </a:rPr>
              <a:t>: Analyze historical data (2001–2024) to classify accident risk not just by frequency, but by severity. </a:t>
            </a:r>
            <a:endParaRPr lang="it-IT" sz="1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it-IT" sz="2000" b="1" i="1" u="none" strike="noStrike">
                <a:solidFill>
                  <a:srgbClr val="000000"/>
                </a:solidFill>
                <a:effectLst/>
                <a:uFillTx/>
                <a:latin typeface="Segoe UI Semibold"/>
              </a:rPr>
              <a:t>Scope</a:t>
            </a:r>
            <a:r>
              <a:rPr lang="it-IT" sz="1600" b="0" u="none" strike="noStrike">
                <a:solidFill>
                  <a:srgbClr val="000000"/>
                </a:solidFill>
                <a:effectLst/>
                <a:uFillTx/>
                <a:latin typeface="Segoe UI"/>
              </a:rPr>
              <a:t>: ~7,500 "stable" Italian towns, assessing where accidents happen most and where they are most fatal.</a:t>
            </a:r>
            <a:r>
              <a:rPr lang="it-IT" sz="1000" b="0" u="none" strike="noStrike">
                <a:solidFill>
                  <a:srgbClr val="000000"/>
                </a:solidFill>
                <a:effectLst/>
                <a:uFillTx/>
                <a:latin typeface="Segoe UI"/>
              </a:rPr>
              <a:t> </a:t>
            </a:r>
            <a:endParaRPr lang="it-IT" sz="1000" b="0" u="none" strike="noStrike">
              <a:solidFill>
                <a:srgbClr val="000000"/>
              </a:solidFill>
              <a:effectLst/>
              <a:uFillTx/>
              <a:latin typeface="Arial"/>
            </a:endParaRPr>
          </a:p>
        </p:txBody>
      </p:sp>
      <p:grpSp>
        <p:nvGrpSpPr>
          <p:cNvPr id="11" name=""/>
          <p:cNvGrpSpPr/>
          <p:nvPr/>
        </p:nvGrpSpPr>
        <p:grpSpPr>
          <a:xfrm>
            <a:off x="360000" y="5040000"/>
            <a:ext cx="9179640" cy="539640"/>
            <a:chOff x="360000" y="5040000"/>
            <a:chExt cx="9179640" cy="539640"/>
          </a:xfrm>
        </p:grpSpPr>
        <p:sp>
          <p:nvSpPr>
            <p:cNvPr id="12" name=""/>
            <p:cNvSpPr/>
            <p:nvPr/>
          </p:nvSpPr>
          <p:spPr>
            <a:xfrm>
              <a:off x="360000" y="5040000"/>
              <a:ext cx="1259640" cy="539640"/>
            </a:xfrm>
            <a:prstGeom prst="rect">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FFFFFF"/>
                  </a:solidFill>
                  <a:effectLst/>
                  <a:uFillTx/>
                  <a:latin typeface="Segoe UI Semibold"/>
                  <a:ea typeface="DejaVu Sans"/>
                </a:rPr>
                <a:t>Problem</a:t>
              </a:r>
              <a:endParaRPr lang="it-IT" sz="1400" b="0" u="none" strike="noStrike">
                <a:solidFill>
                  <a:srgbClr val="FFFFFF"/>
                </a:solidFill>
                <a:effectLst/>
                <a:uFillTx/>
                <a:latin typeface="Arial"/>
              </a:endParaRPr>
            </a:p>
          </p:txBody>
        </p:sp>
        <p:sp>
          <p:nvSpPr>
            <p:cNvPr id="13" name=""/>
            <p:cNvSpPr/>
            <p:nvPr/>
          </p:nvSpPr>
          <p:spPr>
            <a:xfrm>
              <a:off x="234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Extract and Clean data</a:t>
              </a:r>
              <a:endParaRPr lang="it-IT" sz="1400" b="0" u="none" strike="noStrike">
                <a:solidFill>
                  <a:srgbClr val="000000"/>
                </a:solidFill>
                <a:effectLst/>
                <a:uFillTx/>
                <a:latin typeface="Arial"/>
              </a:endParaRPr>
            </a:p>
          </p:txBody>
        </p:sp>
        <p:sp>
          <p:nvSpPr>
            <p:cNvPr id="14" name=""/>
            <p:cNvSpPr/>
            <p:nvPr/>
          </p:nvSpPr>
          <p:spPr>
            <a:xfrm>
              <a:off x="432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EDA and Clustering</a:t>
              </a:r>
              <a:endParaRPr lang="it-IT" sz="1400" b="0" u="none" strike="noStrike">
                <a:solidFill>
                  <a:srgbClr val="000000"/>
                </a:solidFill>
                <a:effectLst/>
                <a:uFillTx/>
                <a:latin typeface="Arial"/>
              </a:endParaRPr>
            </a:p>
          </p:txBody>
        </p:sp>
        <p:sp>
          <p:nvSpPr>
            <p:cNvPr id="15" name=""/>
            <p:cNvSpPr/>
            <p:nvPr/>
          </p:nvSpPr>
          <p:spPr>
            <a:xfrm>
              <a:off x="630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Power Bi  Dashboard</a:t>
              </a:r>
              <a:endParaRPr lang="it-IT" sz="1400" b="0" u="none" strike="noStrike">
                <a:solidFill>
                  <a:srgbClr val="000000"/>
                </a:solidFill>
                <a:effectLst/>
                <a:uFillTx/>
                <a:latin typeface="Arial"/>
              </a:endParaRPr>
            </a:p>
          </p:txBody>
        </p:sp>
        <p:sp>
          <p:nvSpPr>
            <p:cNvPr id="16" name=""/>
            <p:cNvSpPr/>
            <p:nvPr/>
          </p:nvSpPr>
          <p:spPr>
            <a:xfrm>
              <a:off x="828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Key Findings</a:t>
              </a:r>
              <a:endParaRPr lang="it-IT" sz="1400" b="0" u="none" strike="noStrike">
                <a:solidFill>
                  <a:srgbClr val="000000"/>
                </a:solidFill>
                <a:effectLst/>
                <a:uFillTx/>
                <a:latin typeface="Arial"/>
              </a:endParaRPr>
            </a:p>
          </p:txBody>
        </p:sp>
        <p:sp>
          <p:nvSpPr>
            <p:cNvPr id="17" name=""/>
            <p:cNvSpPr/>
            <p:nvPr/>
          </p:nvSpPr>
          <p:spPr>
            <a:xfrm>
              <a:off x="1728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18" name=""/>
            <p:cNvSpPr/>
            <p:nvPr/>
          </p:nvSpPr>
          <p:spPr>
            <a:xfrm>
              <a:off x="367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19" name=""/>
            <p:cNvSpPr/>
            <p:nvPr/>
          </p:nvSpPr>
          <p:spPr>
            <a:xfrm>
              <a:off x="565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20" name=""/>
            <p:cNvSpPr/>
            <p:nvPr/>
          </p:nvSpPr>
          <p:spPr>
            <a:xfrm>
              <a:off x="763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504000" y="225360"/>
            <a:ext cx="9071280" cy="946800"/>
          </a:xfrm>
          <a:prstGeom prst="rect">
            <a:avLst/>
          </a:prstGeom>
          <a:solidFill>
            <a:srgbClr val="666666"/>
          </a:solidFill>
          <a:ln w="0">
            <a:noFill/>
          </a:ln>
        </p:spPr>
        <p:txBody>
          <a:bodyPr lIns="0" tIns="0" rIns="0" bIns="0" anchor="ctr">
            <a:spAutoFit/>
          </a:bodyPr>
          <a:p>
            <a:pPr indent="0" algn="ctr">
              <a:lnSpc>
                <a:spcPct val="100000"/>
              </a:lnSpc>
              <a:buNone/>
              <a:tabLst>
                <a:tab pos="0" algn="l"/>
              </a:tabLst>
            </a:pPr>
            <a:r>
              <a:rPr lang="it-IT" sz="3200" b="0" u="none" strike="noStrike">
                <a:solidFill>
                  <a:srgbClr val="FFFFFF"/>
                </a:solidFill>
                <a:effectLst/>
                <a:uFillTx/>
                <a:latin typeface="Segoe UI Semibold"/>
              </a:rPr>
              <a:t>Data Pipeline and Preprocessing</a:t>
            </a:r>
            <a:endParaRPr lang="it-IT" sz="3200" b="0" u="none" strike="noStrike">
              <a:solidFill>
                <a:srgbClr val="000000"/>
              </a:solidFill>
              <a:effectLst/>
              <a:uFillTx/>
              <a:latin typeface="Arial"/>
            </a:endParaRPr>
          </a:p>
        </p:txBody>
      </p:sp>
      <p:grpSp>
        <p:nvGrpSpPr>
          <p:cNvPr id="22" name=""/>
          <p:cNvGrpSpPr/>
          <p:nvPr/>
        </p:nvGrpSpPr>
        <p:grpSpPr>
          <a:xfrm>
            <a:off x="360000" y="5040000"/>
            <a:ext cx="9179640" cy="539640"/>
            <a:chOff x="360000" y="5040000"/>
            <a:chExt cx="9179640" cy="539640"/>
          </a:xfrm>
        </p:grpSpPr>
        <p:sp>
          <p:nvSpPr>
            <p:cNvPr id="23" name=""/>
            <p:cNvSpPr/>
            <p:nvPr/>
          </p:nvSpPr>
          <p:spPr>
            <a:xfrm>
              <a:off x="36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Problem</a:t>
              </a:r>
              <a:endParaRPr lang="it-IT" sz="1400" b="0" u="none" strike="noStrike">
                <a:solidFill>
                  <a:srgbClr val="000000"/>
                </a:solidFill>
                <a:effectLst/>
                <a:uFillTx/>
                <a:latin typeface="Arial"/>
              </a:endParaRPr>
            </a:p>
          </p:txBody>
        </p:sp>
        <p:sp>
          <p:nvSpPr>
            <p:cNvPr id="24" name=""/>
            <p:cNvSpPr/>
            <p:nvPr/>
          </p:nvSpPr>
          <p:spPr>
            <a:xfrm>
              <a:off x="2340000" y="5040000"/>
              <a:ext cx="1259640" cy="539640"/>
            </a:xfrm>
            <a:prstGeom prst="rect">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FFFFFF"/>
                  </a:solidFill>
                  <a:effectLst/>
                  <a:uFillTx/>
                  <a:latin typeface="Segoe UI Semibold"/>
                  <a:ea typeface="DejaVu Sans"/>
                </a:rPr>
                <a:t>Extract and Clean data</a:t>
              </a:r>
              <a:endParaRPr lang="it-IT" sz="1400" b="0" u="none" strike="noStrike">
                <a:solidFill>
                  <a:srgbClr val="FFFFFF"/>
                </a:solidFill>
                <a:effectLst/>
                <a:uFillTx/>
                <a:latin typeface="Arial"/>
              </a:endParaRPr>
            </a:p>
          </p:txBody>
        </p:sp>
        <p:sp>
          <p:nvSpPr>
            <p:cNvPr id="25" name=""/>
            <p:cNvSpPr/>
            <p:nvPr/>
          </p:nvSpPr>
          <p:spPr>
            <a:xfrm>
              <a:off x="432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EDA and Clustering</a:t>
              </a:r>
              <a:endParaRPr lang="it-IT" sz="1400" b="0" u="none" strike="noStrike">
                <a:solidFill>
                  <a:srgbClr val="000000"/>
                </a:solidFill>
                <a:effectLst/>
                <a:uFillTx/>
                <a:latin typeface="Arial"/>
              </a:endParaRPr>
            </a:p>
          </p:txBody>
        </p:sp>
        <p:sp>
          <p:nvSpPr>
            <p:cNvPr id="26" name=""/>
            <p:cNvSpPr/>
            <p:nvPr/>
          </p:nvSpPr>
          <p:spPr>
            <a:xfrm>
              <a:off x="630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Power Bi  Dashboard</a:t>
              </a:r>
              <a:endParaRPr lang="it-IT" sz="1400" b="0" u="none" strike="noStrike">
                <a:solidFill>
                  <a:srgbClr val="000000"/>
                </a:solidFill>
                <a:effectLst/>
                <a:uFillTx/>
                <a:latin typeface="Arial"/>
              </a:endParaRPr>
            </a:p>
          </p:txBody>
        </p:sp>
        <p:sp>
          <p:nvSpPr>
            <p:cNvPr id="27" name=""/>
            <p:cNvSpPr/>
            <p:nvPr/>
          </p:nvSpPr>
          <p:spPr>
            <a:xfrm>
              <a:off x="828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Key Findings</a:t>
              </a:r>
              <a:endParaRPr lang="it-IT" sz="1400" b="0" u="none" strike="noStrike">
                <a:solidFill>
                  <a:srgbClr val="000000"/>
                </a:solidFill>
                <a:effectLst/>
                <a:uFillTx/>
                <a:latin typeface="Arial"/>
              </a:endParaRPr>
            </a:p>
          </p:txBody>
        </p:sp>
        <p:sp>
          <p:nvSpPr>
            <p:cNvPr id="28" name=""/>
            <p:cNvSpPr/>
            <p:nvPr/>
          </p:nvSpPr>
          <p:spPr>
            <a:xfrm>
              <a:off x="1728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29" name=""/>
            <p:cNvSpPr/>
            <p:nvPr/>
          </p:nvSpPr>
          <p:spPr>
            <a:xfrm>
              <a:off x="367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30" name=""/>
            <p:cNvSpPr/>
            <p:nvPr/>
          </p:nvSpPr>
          <p:spPr>
            <a:xfrm>
              <a:off x="565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31" name=""/>
            <p:cNvSpPr/>
            <p:nvPr/>
          </p:nvSpPr>
          <p:spPr>
            <a:xfrm>
              <a:off x="763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grpSp>
      <p:sp>
        <p:nvSpPr>
          <p:cNvPr id="32" name=""/>
          <p:cNvSpPr/>
          <p:nvPr/>
        </p:nvSpPr>
        <p:spPr>
          <a:xfrm>
            <a:off x="720000" y="1282680"/>
            <a:ext cx="8459640" cy="343224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Data Sources</a:t>
            </a:r>
            <a:r>
              <a:rPr lang="it-IT" sz="1400" b="0" u="none" strike="noStrike">
                <a:solidFill>
                  <a:srgbClr val="000000"/>
                </a:solidFill>
                <a:effectLst/>
                <a:uFillTx/>
                <a:latin typeface="Segoe UI"/>
              </a:rPr>
              <a:t>:</a:t>
            </a:r>
            <a:r>
              <a:rPr lang="it-IT" sz="1000" b="0" u="none" strike="noStrike">
                <a:solidFill>
                  <a:srgbClr val="000000"/>
                </a:solidFill>
                <a:effectLst/>
                <a:uFillTx/>
                <a:latin typeface="Segoe UI"/>
              </a:rPr>
              <a:t> </a:t>
            </a:r>
            <a:r>
              <a:rPr lang="it-IT" sz="1400" b="0" u="none" strike="noStrike">
                <a:solidFill>
                  <a:srgbClr val="000000"/>
                </a:solidFill>
                <a:effectLst/>
                <a:uFillTx/>
                <a:latin typeface="Segoe UI"/>
              </a:rPr>
              <a:t>ISTAT SDMX API (accidents, injuries, deaths) + SITUAS API (population, surface area).</a:t>
            </a:r>
            <a:endParaRPr lang="it-IT" sz="14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Automated Extraction</a:t>
            </a:r>
            <a:r>
              <a:rPr lang="it-IT" sz="1400" b="0" u="none" strike="noStrike">
                <a:solidFill>
                  <a:srgbClr val="000000"/>
                </a:solidFill>
                <a:effectLst/>
                <a:uFillTx/>
                <a:latin typeface="Segoe UI"/>
              </a:rPr>
              <a:t>:</a:t>
            </a:r>
            <a:r>
              <a:rPr lang="it-IT" sz="1000" b="0" u="none" strike="noStrike">
                <a:solidFill>
                  <a:srgbClr val="000000"/>
                </a:solidFill>
                <a:effectLst/>
                <a:uFillTx/>
                <a:latin typeface="Segoe UI"/>
              </a:rPr>
              <a:t> </a:t>
            </a:r>
            <a:r>
              <a:rPr lang="it-IT" sz="1400" b="0" u="none" strike="noStrike">
                <a:solidFill>
                  <a:srgbClr val="000000"/>
                </a:solidFill>
                <a:effectLst/>
                <a:uFillTx/>
                <a:latin typeface="Segoe UI"/>
              </a:rPr>
              <a:t>Python requests notebook cell fetching 24 yearly CSVs dynamically.</a:t>
            </a:r>
            <a:endParaRPr lang="it-IT" sz="14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Data Cleaning</a:t>
            </a:r>
            <a:r>
              <a:rPr lang="it-IT" sz="1400" b="0" u="none" strike="noStrike">
                <a:solidFill>
                  <a:srgbClr val="000000"/>
                </a:solidFill>
                <a:effectLst/>
                <a:uFillTx/>
                <a:latin typeface="Segoe UI"/>
              </a:rPr>
              <a:t>:</a:t>
            </a:r>
            <a:endParaRPr lang="it-IT" sz="1400" b="0" u="none" strike="noStrike">
              <a:solidFill>
                <a:srgbClr val="000000"/>
              </a:solidFill>
              <a:effectLst/>
              <a:uFillTx/>
              <a:latin typeface="Arial"/>
            </a:endParaRPr>
          </a:p>
          <a:p>
            <a:pPr marL="432000" lvl="1" indent="-216000">
              <a:lnSpc>
                <a:spcPct val="100000"/>
              </a:lnSpc>
              <a:spcBef>
                <a:spcPts val="1191"/>
              </a:spcBef>
              <a:spcAft>
                <a:spcPts val="992"/>
              </a:spcAft>
              <a:buClr>
                <a:srgbClr val="000000"/>
              </a:buClr>
              <a:buSzPct val="45000"/>
              <a:buFont typeface="Wingdings" charset="2"/>
              <a:buChar char=""/>
            </a:pPr>
            <a:r>
              <a:rPr lang="it-IT" sz="1300" b="0" u="none" strike="noStrike">
                <a:solidFill>
                  <a:srgbClr val="000000"/>
                </a:solidFill>
                <a:effectLst/>
                <a:uFillTx/>
                <a:latin typeface="Segoe UI"/>
              </a:rPr>
              <a:t>Filtered to "stable" towns (present in all 24 years) to avoid merger/split bias.</a:t>
            </a:r>
            <a:endParaRPr lang="it-IT" sz="1300" b="0" u="none" strike="noStrike">
              <a:solidFill>
                <a:srgbClr val="000000"/>
              </a:solidFill>
              <a:effectLst/>
              <a:uFillTx/>
              <a:latin typeface="Arial"/>
            </a:endParaRPr>
          </a:p>
          <a:p>
            <a:pPr marL="432000" lvl="1" indent="-216000">
              <a:lnSpc>
                <a:spcPct val="100000"/>
              </a:lnSpc>
              <a:spcBef>
                <a:spcPts val="1191"/>
              </a:spcBef>
              <a:spcAft>
                <a:spcPts val="992"/>
              </a:spcAft>
              <a:buClr>
                <a:srgbClr val="000000"/>
              </a:buClr>
              <a:buSzPct val="45000"/>
              <a:buFont typeface="Wingdings" charset="2"/>
              <a:buChar char=""/>
            </a:pPr>
            <a:r>
              <a:rPr lang="it-IT" sz="1300" b="0" u="none" strike="noStrike">
                <a:solidFill>
                  <a:srgbClr val="000000"/>
                </a:solidFill>
                <a:effectLst/>
                <a:uFillTx/>
                <a:latin typeface="Segoe UI"/>
              </a:rPr>
              <a:t>Pivoted long-to-wide format for a clean merge.</a:t>
            </a:r>
            <a:endParaRPr lang="it-IT" sz="1300" b="0" u="none" strike="noStrike">
              <a:solidFill>
                <a:srgbClr val="000000"/>
              </a:solidFill>
              <a:effectLst/>
              <a:uFillTx/>
              <a:latin typeface="Arial"/>
            </a:endParaRPr>
          </a:p>
          <a:p>
            <a:pPr marL="432000" lvl="1" indent="-216000">
              <a:lnSpc>
                <a:spcPct val="100000"/>
              </a:lnSpc>
              <a:spcBef>
                <a:spcPts val="1191"/>
              </a:spcBef>
              <a:spcAft>
                <a:spcPts val="992"/>
              </a:spcAft>
              <a:buClr>
                <a:srgbClr val="000000"/>
              </a:buClr>
              <a:buSzPct val="45000"/>
              <a:buFont typeface="Wingdings" charset="2"/>
              <a:buChar char=""/>
            </a:pPr>
            <a:r>
              <a:rPr lang="it-IT" sz="1300" b="0" u="none" strike="noStrike">
                <a:solidFill>
                  <a:srgbClr val="000000"/>
                </a:solidFill>
                <a:effectLst/>
                <a:uFillTx/>
                <a:latin typeface="Segoe UI"/>
              </a:rPr>
              <a:t>Normalized the metric columns to 1,000 people to rescale the values.</a:t>
            </a:r>
            <a:endParaRPr lang="it-IT" sz="13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Edge Cases</a:t>
            </a:r>
            <a:r>
              <a:rPr lang="it-IT" sz="1600" b="0" u="none" strike="noStrike">
                <a:solidFill>
                  <a:srgbClr val="000000"/>
                </a:solidFill>
                <a:effectLst/>
                <a:uFillTx/>
                <a:latin typeface="Segoe UI"/>
              </a:rPr>
              <a:t>: </a:t>
            </a:r>
            <a:r>
              <a:rPr lang="it-IT" sz="1400" b="0" u="none" strike="noStrike">
                <a:solidFill>
                  <a:srgbClr val="000000"/>
                </a:solidFill>
                <a:effectLst/>
                <a:uFillTx/>
                <a:latin typeface="Segoe UI"/>
              </a:rPr>
              <a:t>Distinguished '0 incidents' (NaN) from '0% fatality' (0) in Fatality Rate column calculation to prevent statistical distortion.</a:t>
            </a:r>
            <a:endParaRPr lang="it-IT" sz="1400" b="0" u="none" strike="noStrike">
              <a:solidFill>
                <a:srgbClr val="000000"/>
              </a:solidFill>
              <a:effectLst/>
              <a:uFillTx/>
              <a:latin typeface="Arial"/>
            </a:endParaRPr>
          </a:p>
          <a:p>
            <a:pPr>
              <a:lnSpc>
                <a:spcPct val="100000"/>
              </a:lnSpc>
            </a:pPr>
            <a:endParaRPr lang="it-IT" sz="1000" b="0" u="none" strike="noStrike">
              <a:solidFill>
                <a:srgbClr val="000000"/>
              </a:solidFill>
              <a:effectLst/>
              <a:uFillTx/>
              <a:latin typeface="Arial"/>
            </a:endParaRPr>
          </a:p>
        </p:txBody>
      </p:sp>
      <p:sp>
        <p:nvSpPr>
          <p:cNvPr id="33" name=""/>
          <p:cNvSpPr/>
          <p:nvPr/>
        </p:nvSpPr>
        <p:spPr>
          <a:xfrm>
            <a:off x="7740000" y="3780000"/>
            <a:ext cx="2339640" cy="4953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it-IT" sz="1300" b="0" u="none" strike="noStrike">
                <a:solidFill>
                  <a:srgbClr val="000000"/>
                </a:solidFill>
                <a:effectLst/>
                <a:uFillTx/>
                <a:latin typeface="Segoe UI Semibold"/>
              </a:rPr>
              <a:t>Tools</a:t>
            </a:r>
            <a:r>
              <a:rPr lang="it-IT" sz="1200" b="0" u="none" strike="noStrike">
                <a:solidFill>
                  <a:srgbClr val="000000"/>
                </a:solidFill>
                <a:effectLst/>
                <a:uFillTx/>
                <a:latin typeface="Segoe UI"/>
              </a:rPr>
              <a:t>: </a:t>
            </a:r>
            <a:r>
              <a:rPr lang="it-IT" sz="1100" b="0" u="none" strike="noStrike">
                <a:solidFill>
                  <a:srgbClr val="000000"/>
                </a:solidFill>
                <a:effectLst/>
                <a:uFillTx/>
                <a:latin typeface="Segoe UI"/>
              </a:rPr>
              <a:t>Python (Pandas, Requests, Numpy) ,VS code, GIT </a:t>
            </a:r>
            <a:endParaRPr lang="it-IT"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5360"/>
            <a:ext cx="9071280" cy="946800"/>
          </a:xfrm>
          <a:prstGeom prst="rect">
            <a:avLst/>
          </a:prstGeom>
          <a:solidFill>
            <a:srgbClr val="666666"/>
          </a:solidFill>
          <a:ln w="0">
            <a:noFill/>
          </a:ln>
        </p:spPr>
        <p:txBody>
          <a:bodyPr lIns="0" tIns="0" rIns="0" bIns="0" anchor="ctr">
            <a:spAutoFit/>
          </a:bodyPr>
          <a:p>
            <a:pPr indent="0" algn="ctr">
              <a:lnSpc>
                <a:spcPct val="100000"/>
              </a:lnSpc>
              <a:buNone/>
              <a:tabLst>
                <a:tab pos="0" algn="l"/>
              </a:tabLst>
            </a:pPr>
            <a:r>
              <a:rPr lang="it-IT" sz="3200" b="0" u="none" strike="noStrike">
                <a:solidFill>
                  <a:srgbClr val="FFFFFF"/>
                </a:solidFill>
                <a:effectLst/>
                <a:uFillTx/>
                <a:latin typeface="Segoe UI Semibold"/>
              </a:rPr>
              <a:t>EDA and Risk Clustering</a:t>
            </a:r>
            <a:endParaRPr lang="it-IT" sz="3200" b="0" u="none" strike="noStrike">
              <a:solidFill>
                <a:srgbClr val="000000"/>
              </a:solidFill>
              <a:effectLst/>
              <a:uFillTx/>
              <a:latin typeface="Arial"/>
            </a:endParaRPr>
          </a:p>
        </p:txBody>
      </p:sp>
      <p:grpSp>
        <p:nvGrpSpPr>
          <p:cNvPr id="35" name=""/>
          <p:cNvGrpSpPr/>
          <p:nvPr/>
        </p:nvGrpSpPr>
        <p:grpSpPr>
          <a:xfrm>
            <a:off x="360000" y="5040000"/>
            <a:ext cx="9179640" cy="539640"/>
            <a:chOff x="360000" y="5040000"/>
            <a:chExt cx="9179640" cy="539640"/>
          </a:xfrm>
        </p:grpSpPr>
        <p:sp>
          <p:nvSpPr>
            <p:cNvPr id="36" name=""/>
            <p:cNvSpPr/>
            <p:nvPr/>
          </p:nvSpPr>
          <p:spPr>
            <a:xfrm>
              <a:off x="36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Problem</a:t>
              </a:r>
              <a:endParaRPr lang="it-IT" sz="1400" b="0" u="none" strike="noStrike">
                <a:solidFill>
                  <a:srgbClr val="000000"/>
                </a:solidFill>
                <a:effectLst/>
                <a:uFillTx/>
                <a:latin typeface="Arial"/>
              </a:endParaRPr>
            </a:p>
          </p:txBody>
        </p:sp>
        <p:sp>
          <p:nvSpPr>
            <p:cNvPr id="37" name=""/>
            <p:cNvSpPr/>
            <p:nvPr/>
          </p:nvSpPr>
          <p:spPr>
            <a:xfrm>
              <a:off x="234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Extract and Clean data</a:t>
              </a:r>
              <a:endParaRPr lang="it-IT" sz="1400" b="0" u="none" strike="noStrike">
                <a:solidFill>
                  <a:srgbClr val="000000"/>
                </a:solidFill>
                <a:effectLst/>
                <a:uFillTx/>
                <a:latin typeface="Arial"/>
              </a:endParaRPr>
            </a:p>
          </p:txBody>
        </p:sp>
        <p:sp>
          <p:nvSpPr>
            <p:cNvPr id="38" name=""/>
            <p:cNvSpPr/>
            <p:nvPr/>
          </p:nvSpPr>
          <p:spPr>
            <a:xfrm>
              <a:off x="4320000" y="5040000"/>
              <a:ext cx="1259640" cy="539640"/>
            </a:xfrm>
            <a:prstGeom prst="rect">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FFFFFF"/>
                  </a:solidFill>
                  <a:effectLst/>
                  <a:uFillTx/>
                  <a:latin typeface="Segoe UI Semibold"/>
                  <a:ea typeface="DejaVu Sans"/>
                </a:rPr>
                <a:t>EDA and Clustering</a:t>
              </a:r>
              <a:endParaRPr lang="it-IT" sz="1400" b="0" u="none" strike="noStrike">
                <a:solidFill>
                  <a:srgbClr val="FFFFFF"/>
                </a:solidFill>
                <a:effectLst/>
                <a:uFillTx/>
                <a:latin typeface="Arial"/>
              </a:endParaRPr>
            </a:p>
          </p:txBody>
        </p:sp>
        <p:sp>
          <p:nvSpPr>
            <p:cNvPr id="39" name=""/>
            <p:cNvSpPr/>
            <p:nvPr/>
          </p:nvSpPr>
          <p:spPr>
            <a:xfrm>
              <a:off x="630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Power Bi  Dashboard</a:t>
              </a:r>
              <a:endParaRPr lang="it-IT" sz="1400" b="0" u="none" strike="noStrike">
                <a:solidFill>
                  <a:srgbClr val="000000"/>
                </a:solidFill>
                <a:effectLst/>
                <a:uFillTx/>
                <a:latin typeface="Arial"/>
              </a:endParaRPr>
            </a:p>
          </p:txBody>
        </p:sp>
        <p:sp>
          <p:nvSpPr>
            <p:cNvPr id="40" name=""/>
            <p:cNvSpPr/>
            <p:nvPr/>
          </p:nvSpPr>
          <p:spPr>
            <a:xfrm>
              <a:off x="828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Key Findings</a:t>
              </a:r>
              <a:endParaRPr lang="it-IT" sz="1400" b="0" u="none" strike="noStrike">
                <a:solidFill>
                  <a:srgbClr val="000000"/>
                </a:solidFill>
                <a:effectLst/>
                <a:uFillTx/>
                <a:latin typeface="Arial"/>
              </a:endParaRPr>
            </a:p>
          </p:txBody>
        </p:sp>
        <p:sp>
          <p:nvSpPr>
            <p:cNvPr id="41" name=""/>
            <p:cNvSpPr/>
            <p:nvPr/>
          </p:nvSpPr>
          <p:spPr>
            <a:xfrm>
              <a:off x="1728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42" name=""/>
            <p:cNvSpPr/>
            <p:nvPr/>
          </p:nvSpPr>
          <p:spPr>
            <a:xfrm>
              <a:off x="367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43" name=""/>
            <p:cNvSpPr/>
            <p:nvPr/>
          </p:nvSpPr>
          <p:spPr>
            <a:xfrm>
              <a:off x="565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44" name=""/>
            <p:cNvSpPr/>
            <p:nvPr/>
          </p:nvSpPr>
          <p:spPr>
            <a:xfrm>
              <a:off x="763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grpSp>
      <p:sp>
        <p:nvSpPr>
          <p:cNvPr id="45" name=""/>
          <p:cNvSpPr/>
          <p:nvPr/>
        </p:nvSpPr>
        <p:spPr>
          <a:xfrm>
            <a:off x="7560000" y="1304640"/>
            <a:ext cx="2339640" cy="4953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it-IT" sz="1300" b="0" u="none" strike="noStrike">
                <a:solidFill>
                  <a:srgbClr val="000000"/>
                </a:solidFill>
                <a:effectLst/>
                <a:uFillTx/>
                <a:latin typeface="Segoe UI Semibold"/>
              </a:rPr>
              <a:t>Tools</a:t>
            </a:r>
            <a:r>
              <a:rPr lang="it-IT" sz="1200" b="0" u="none" strike="noStrike">
                <a:solidFill>
                  <a:srgbClr val="000000"/>
                </a:solidFill>
                <a:effectLst/>
                <a:uFillTx/>
                <a:latin typeface="Segoe UI"/>
              </a:rPr>
              <a:t>: </a:t>
            </a:r>
            <a:r>
              <a:rPr lang="it-IT" sz="1100" b="0" u="none" strike="noStrike">
                <a:solidFill>
                  <a:srgbClr val="000000"/>
                </a:solidFill>
                <a:effectLst/>
                <a:uFillTx/>
                <a:latin typeface="Segoe UI"/>
              </a:rPr>
              <a:t>Python (scikit-learn, seaborn/matplotlib),VS code, GIT </a:t>
            </a:r>
            <a:endParaRPr lang="it-IT" sz="1100" b="0" u="none" strike="noStrike">
              <a:solidFill>
                <a:srgbClr val="000000"/>
              </a:solidFill>
              <a:effectLst/>
              <a:uFillTx/>
              <a:latin typeface="Arial"/>
            </a:endParaRPr>
          </a:p>
        </p:txBody>
      </p:sp>
      <p:sp>
        <p:nvSpPr>
          <p:cNvPr id="46" name=""/>
          <p:cNvSpPr/>
          <p:nvPr/>
        </p:nvSpPr>
        <p:spPr>
          <a:xfrm>
            <a:off x="540000" y="1332000"/>
            <a:ext cx="8639640" cy="330300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EDA (Exploratory Data Analysis)</a:t>
            </a:r>
            <a:r>
              <a:rPr lang="it-IT" sz="1400" b="0" u="none" strike="noStrike">
                <a:solidFill>
                  <a:srgbClr val="000000"/>
                </a:solidFill>
                <a:effectLst/>
                <a:uFillTx/>
                <a:latin typeface="Segoe UI Semibold"/>
              </a:rPr>
              <a:t>:</a:t>
            </a:r>
            <a:endParaRPr lang="it-IT" sz="1400" b="0" u="none" strike="noStrike">
              <a:solidFill>
                <a:srgbClr val="000000"/>
              </a:solidFill>
              <a:effectLst/>
              <a:uFillTx/>
              <a:latin typeface="Arial"/>
            </a:endParaRPr>
          </a:p>
          <a:p>
            <a:pPr marL="432000" lvl="1" indent="-216000">
              <a:lnSpc>
                <a:spcPct val="100000"/>
              </a:lnSpc>
              <a:spcBef>
                <a:spcPts val="1191"/>
              </a:spcBef>
              <a:spcAft>
                <a:spcPts val="992"/>
              </a:spcAft>
              <a:buClr>
                <a:srgbClr val="000000"/>
              </a:buClr>
              <a:buSzPct val="45000"/>
              <a:buFont typeface="Wingdings" charset="2"/>
              <a:buChar char=""/>
            </a:pPr>
            <a:r>
              <a:rPr lang="it-IT" sz="1300" b="0" u="none" strike="noStrike">
                <a:solidFill>
                  <a:srgbClr val="000000"/>
                </a:solidFill>
                <a:effectLst/>
                <a:uFillTx/>
                <a:latin typeface="Segoe UI"/>
              </a:rPr>
              <a:t>Highly right-skewed distributions (Italy = many small towns, few large cities).</a:t>
            </a:r>
            <a:endParaRPr lang="it-IT" sz="1300" b="0" u="none" strike="noStrike">
              <a:solidFill>
                <a:srgbClr val="000000"/>
              </a:solidFill>
              <a:effectLst/>
              <a:uFillTx/>
              <a:latin typeface="Arial"/>
            </a:endParaRPr>
          </a:p>
          <a:p>
            <a:pPr marL="432000" lvl="1" indent="-216000">
              <a:lnSpc>
                <a:spcPct val="100000"/>
              </a:lnSpc>
              <a:spcBef>
                <a:spcPts val="1191"/>
              </a:spcBef>
              <a:spcAft>
                <a:spcPts val="992"/>
              </a:spcAft>
              <a:buClr>
                <a:srgbClr val="000000"/>
              </a:buClr>
              <a:buSzPct val="45000"/>
              <a:buFont typeface="Wingdings" charset="2"/>
              <a:buChar char=""/>
            </a:pPr>
            <a:r>
              <a:rPr lang="it-IT" sz="1300" b="0" u="none" strike="noStrike">
                <a:solidFill>
                  <a:srgbClr val="000000"/>
                </a:solidFill>
                <a:effectLst/>
                <a:uFillTx/>
                <a:latin typeface="Segoe UI"/>
              </a:rPr>
              <a:t>Applied Log scale to correctly view data distributions and compared Pearson vs. Spearman correlations.</a:t>
            </a:r>
            <a:endParaRPr lang="it-IT" sz="13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Clustering (K-Means, k=3)</a:t>
            </a:r>
            <a:r>
              <a:rPr lang="it-IT" sz="1400" b="0" u="none" strike="noStrike">
                <a:solidFill>
                  <a:srgbClr val="000000"/>
                </a:solidFill>
                <a:effectLst/>
                <a:uFillTx/>
                <a:latin typeface="Segoe UI Semibold"/>
              </a:rPr>
              <a:t>:</a:t>
            </a:r>
            <a:endParaRPr lang="it-IT" sz="1400" b="0" u="none" strike="noStrike">
              <a:solidFill>
                <a:srgbClr val="000000"/>
              </a:solidFill>
              <a:effectLst/>
              <a:uFillTx/>
              <a:latin typeface="Arial"/>
            </a:endParaRPr>
          </a:p>
          <a:p>
            <a:pPr marL="432000" lvl="1" indent="-216000">
              <a:lnSpc>
                <a:spcPct val="100000"/>
              </a:lnSpc>
              <a:spcBef>
                <a:spcPts val="1191"/>
              </a:spcBef>
              <a:spcAft>
                <a:spcPts val="992"/>
              </a:spcAft>
              <a:buClr>
                <a:srgbClr val="000000"/>
              </a:buClr>
              <a:buSzPct val="45000"/>
              <a:buFont typeface="Wingdings" charset="2"/>
              <a:buChar char=""/>
            </a:pPr>
            <a:r>
              <a:rPr lang="it-IT" sz="1300" b="0" u="sng" strike="noStrike">
                <a:solidFill>
                  <a:srgbClr val="000000"/>
                </a:solidFill>
                <a:effectLst/>
                <a:uFillTx/>
                <a:latin typeface="Segoe UI"/>
              </a:rPr>
              <a:t>Features</a:t>
            </a:r>
            <a:r>
              <a:rPr lang="it-IT" sz="1300" b="0" u="none" strike="noStrike">
                <a:solidFill>
                  <a:srgbClr val="000000"/>
                </a:solidFill>
                <a:effectLst/>
                <a:uFillTx/>
                <a:latin typeface="Segoe UI"/>
              </a:rPr>
              <a:t>: Accident, Injury, Death, and Fatality Rates.</a:t>
            </a:r>
            <a:endParaRPr lang="it-IT" sz="1300" b="0" u="none" strike="noStrike">
              <a:solidFill>
                <a:srgbClr val="000000"/>
              </a:solidFill>
              <a:effectLst/>
              <a:uFillTx/>
              <a:latin typeface="Arial"/>
            </a:endParaRPr>
          </a:p>
          <a:p>
            <a:pPr marL="432000" lvl="1" indent="-216000">
              <a:lnSpc>
                <a:spcPct val="100000"/>
              </a:lnSpc>
              <a:spcBef>
                <a:spcPts val="1191"/>
              </a:spcBef>
              <a:spcAft>
                <a:spcPts val="992"/>
              </a:spcAft>
              <a:buClr>
                <a:srgbClr val="000000"/>
              </a:buClr>
              <a:buSzPct val="45000"/>
              <a:buFont typeface="Wingdings" charset="2"/>
              <a:buChar char=""/>
            </a:pPr>
            <a:r>
              <a:rPr lang="it-IT" sz="1300" b="0" u="sng" strike="noStrike">
                <a:solidFill>
                  <a:srgbClr val="000000"/>
                </a:solidFill>
                <a:effectLst/>
                <a:uFillTx/>
                <a:latin typeface="Segoe UI"/>
              </a:rPr>
              <a:t>Preprocessing</a:t>
            </a:r>
            <a:r>
              <a:rPr lang="it-IT" sz="1300" b="0" u="none" strike="noStrike">
                <a:solidFill>
                  <a:srgbClr val="000000"/>
                </a:solidFill>
                <a:effectLst/>
                <a:uFillTx/>
                <a:latin typeface="Segoe UI"/>
              </a:rPr>
              <a:t>: Log transformation (reduce variables skewness) + Standardization (rescale values to similar ranges). Used Elbow Method to calculate the optimal number of clusters.</a:t>
            </a:r>
            <a:endParaRPr lang="it-IT" sz="13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Key Insight</a:t>
            </a:r>
            <a:r>
              <a:rPr lang="it-IT" sz="1400" b="0" u="none" strike="noStrike">
                <a:solidFill>
                  <a:srgbClr val="000000"/>
                </a:solidFill>
                <a:effectLst/>
                <a:uFillTx/>
                <a:latin typeface="Segoe UI Semibold"/>
              </a:rPr>
              <a:t>:</a:t>
            </a:r>
            <a:r>
              <a:rPr lang="it-IT" sz="1000" b="0" u="none" strike="noStrike">
                <a:solidFill>
                  <a:srgbClr val="000000"/>
                </a:solidFill>
                <a:effectLst/>
                <a:uFillTx/>
                <a:latin typeface="Arial"/>
              </a:rPr>
              <a:t> </a:t>
            </a:r>
            <a:r>
              <a:rPr lang="it-IT" sz="1300" b="0" u="none" strike="noStrike">
                <a:solidFill>
                  <a:srgbClr val="000000"/>
                </a:solidFill>
                <a:effectLst/>
                <a:uFillTx/>
                <a:latin typeface="Segoe UI"/>
              </a:rPr>
              <a:t>The "High Risk" cluster is defined by severity (high fatality rate), not by accident volume.</a:t>
            </a:r>
            <a:endParaRPr lang="it-IT" sz="1300" b="0" u="none" strike="noStrike">
              <a:solidFill>
                <a:srgbClr val="000000"/>
              </a:solidFill>
              <a:effectLst/>
              <a:uFillTx/>
              <a:latin typeface="Arial"/>
            </a:endParaRPr>
          </a:p>
          <a:p>
            <a:pPr>
              <a:lnSpc>
                <a:spcPct val="100000"/>
              </a:lnSpc>
            </a:pPr>
            <a:endParaRPr lang="it-IT"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225360"/>
            <a:ext cx="9071280" cy="946800"/>
          </a:xfrm>
          <a:prstGeom prst="rect">
            <a:avLst/>
          </a:prstGeom>
          <a:solidFill>
            <a:srgbClr val="666666"/>
          </a:solidFill>
          <a:ln w="0">
            <a:noFill/>
          </a:ln>
        </p:spPr>
        <p:txBody>
          <a:bodyPr lIns="0" tIns="0" rIns="0" bIns="0" anchor="ctr">
            <a:spAutoFit/>
          </a:bodyPr>
          <a:p>
            <a:pPr indent="0" algn="ctr">
              <a:lnSpc>
                <a:spcPct val="100000"/>
              </a:lnSpc>
              <a:buNone/>
              <a:tabLst>
                <a:tab pos="0" algn="l"/>
              </a:tabLst>
            </a:pPr>
            <a:r>
              <a:rPr lang="it-IT" sz="3200" b="0" u="none" strike="noStrike">
                <a:solidFill>
                  <a:srgbClr val="FFFFFF"/>
                </a:solidFill>
                <a:effectLst/>
                <a:uFillTx/>
                <a:latin typeface="Segoe UI Semibold"/>
              </a:rPr>
              <a:t>Interactive Power BI Dashboard</a:t>
            </a:r>
            <a:endParaRPr lang="it-IT" sz="3200" b="0" u="none" strike="noStrike">
              <a:solidFill>
                <a:srgbClr val="000000"/>
              </a:solidFill>
              <a:effectLst/>
              <a:uFillTx/>
              <a:latin typeface="Arial"/>
            </a:endParaRPr>
          </a:p>
        </p:txBody>
      </p:sp>
      <p:grpSp>
        <p:nvGrpSpPr>
          <p:cNvPr id="48" name=""/>
          <p:cNvGrpSpPr/>
          <p:nvPr/>
        </p:nvGrpSpPr>
        <p:grpSpPr>
          <a:xfrm>
            <a:off x="360000" y="5040000"/>
            <a:ext cx="9179640" cy="539640"/>
            <a:chOff x="360000" y="5040000"/>
            <a:chExt cx="9179640" cy="539640"/>
          </a:xfrm>
        </p:grpSpPr>
        <p:sp>
          <p:nvSpPr>
            <p:cNvPr id="49" name=""/>
            <p:cNvSpPr/>
            <p:nvPr/>
          </p:nvSpPr>
          <p:spPr>
            <a:xfrm>
              <a:off x="36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Problem</a:t>
              </a:r>
              <a:endParaRPr lang="it-IT" sz="1400" b="0" u="none" strike="noStrike">
                <a:solidFill>
                  <a:srgbClr val="000000"/>
                </a:solidFill>
                <a:effectLst/>
                <a:uFillTx/>
                <a:latin typeface="Arial"/>
              </a:endParaRPr>
            </a:p>
          </p:txBody>
        </p:sp>
        <p:sp>
          <p:nvSpPr>
            <p:cNvPr id="50" name=""/>
            <p:cNvSpPr/>
            <p:nvPr/>
          </p:nvSpPr>
          <p:spPr>
            <a:xfrm>
              <a:off x="234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Extract and Clean data</a:t>
              </a:r>
              <a:endParaRPr lang="it-IT" sz="1400" b="0" u="none" strike="noStrike">
                <a:solidFill>
                  <a:srgbClr val="000000"/>
                </a:solidFill>
                <a:effectLst/>
                <a:uFillTx/>
                <a:latin typeface="Arial"/>
              </a:endParaRPr>
            </a:p>
          </p:txBody>
        </p:sp>
        <p:sp>
          <p:nvSpPr>
            <p:cNvPr id="51" name=""/>
            <p:cNvSpPr/>
            <p:nvPr/>
          </p:nvSpPr>
          <p:spPr>
            <a:xfrm>
              <a:off x="432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EDA and Clustering</a:t>
              </a:r>
              <a:endParaRPr lang="it-IT" sz="1400" b="0" u="none" strike="noStrike">
                <a:solidFill>
                  <a:srgbClr val="000000"/>
                </a:solidFill>
                <a:effectLst/>
                <a:uFillTx/>
                <a:latin typeface="Arial"/>
              </a:endParaRPr>
            </a:p>
          </p:txBody>
        </p:sp>
        <p:sp>
          <p:nvSpPr>
            <p:cNvPr id="52" name=""/>
            <p:cNvSpPr/>
            <p:nvPr/>
          </p:nvSpPr>
          <p:spPr>
            <a:xfrm>
              <a:off x="6300000" y="5040000"/>
              <a:ext cx="1259640" cy="539640"/>
            </a:xfrm>
            <a:prstGeom prst="rect">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FFFFFF"/>
                  </a:solidFill>
                  <a:effectLst/>
                  <a:uFillTx/>
                  <a:latin typeface="Segoe UI Semibold"/>
                  <a:ea typeface="DejaVu Sans"/>
                </a:rPr>
                <a:t>Power Bi  Dashboard</a:t>
              </a:r>
              <a:endParaRPr lang="it-IT" sz="1400" b="0" u="none" strike="noStrike">
                <a:solidFill>
                  <a:srgbClr val="FFFFFF"/>
                </a:solidFill>
                <a:effectLst/>
                <a:uFillTx/>
                <a:latin typeface="Arial"/>
              </a:endParaRPr>
            </a:p>
          </p:txBody>
        </p:sp>
        <p:sp>
          <p:nvSpPr>
            <p:cNvPr id="53" name=""/>
            <p:cNvSpPr/>
            <p:nvPr/>
          </p:nvSpPr>
          <p:spPr>
            <a:xfrm>
              <a:off x="828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Key Findings</a:t>
              </a:r>
              <a:endParaRPr lang="it-IT" sz="1400" b="0" u="none" strike="noStrike">
                <a:solidFill>
                  <a:srgbClr val="000000"/>
                </a:solidFill>
                <a:effectLst/>
                <a:uFillTx/>
                <a:latin typeface="Arial"/>
              </a:endParaRPr>
            </a:p>
          </p:txBody>
        </p:sp>
        <p:sp>
          <p:nvSpPr>
            <p:cNvPr id="54" name=""/>
            <p:cNvSpPr/>
            <p:nvPr/>
          </p:nvSpPr>
          <p:spPr>
            <a:xfrm>
              <a:off x="1728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55" name=""/>
            <p:cNvSpPr/>
            <p:nvPr/>
          </p:nvSpPr>
          <p:spPr>
            <a:xfrm>
              <a:off x="367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56" name=""/>
            <p:cNvSpPr/>
            <p:nvPr/>
          </p:nvSpPr>
          <p:spPr>
            <a:xfrm>
              <a:off x="565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57" name=""/>
            <p:cNvSpPr/>
            <p:nvPr/>
          </p:nvSpPr>
          <p:spPr>
            <a:xfrm>
              <a:off x="763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grpSp>
      <p:sp>
        <p:nvSpPr>
          <p:cNvPr id="58" name=""/>
          <p:cNvSpPr/>
          <p:nvPr/>
        </p:nvSpPr>
        <p:spPr>
          <a:xfrm>
            <a:off x="7740000" y="4436280"/>
            <a:ext cx="2339640" cy="4953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it-IT" sz="1300" b="0" u="none" strike="noStrike">
                <a:solidFill>
                  <a:srgbClr val="000000"/>
                </a:solidFill>
                <a:effectLst/>
                <a:uFillTx/>
                <a:latin typeface="Segoe UI Semibold"/>
              </a:rPr>
              <a:t>Tools</a:t>
            </a:r>
            <a:r>
              <a:rPr lang="it-IT" sz="1200" b="0" u="none" strike="noStrike">
                <a:solidFill>
                  <a:srgbClr val="000000"/>
                </a:solidFill>
                <a:effectLst/>
                <a:uFillTx/>
                <a:latin typeface="Segoe UI"/>
              </a:rPr>
              <a:t>: Power BI, DAX</a:t>
            </a:r>
            <a:r>
              <a:rPr lang="it-IT" sz="1100" b="0" u="none" strike="noStrike">
                <a:solidFill>
                  <a:srgbClr val="000000"/>
                </a:solidFill>
                <a:effectLst/>
                <a:uFillTx/>
                <a:latin typeface="Segoe UI"/>
              </a:rPr>
              <a:t>, GIT </a:t>
            </a:r>
            <a:endParaRPr lang="it-IT" sz="1100" b="0" u="none" strike="noStrike">
              <a:solidFill>
                <a:srgbClr val="000000"/>
              </a:solidFill>
              <a:effectLst/>
              <a:uFillTx/>
              <a:latin typeface="Arial"/>
            </a:endParaRPr>
          </a:p>
        </p:txBody>
      </p:sp>
      <p:sp>
        <p:nvSpPr>
          <p:cNvPr id="59" name=""/>
          <p:cNvSpPr/>
          <p:nvPr/>
        </p:nvSpPr>
        <p:spPr>
          <a:xfrm>
            <a:off x="360000" y="1440000"/>
            <a:ext cx="4679640" cy="275256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Structure</a:t>
            </a:r>
            <a:r>
              <a:rPr lang="it-IT" sz="1400" b="0" u="none" strike="noStrike">
                <a:solidFill>
                  <a:srgbClr val="000000"/>
                </a:solidFill>
                <a:effectLst/>
                <a:uFillTx/>
                <a:latin typeface="Segoe UI Semibold"/>
              </a:rPr>
              <a:t>:</a:t>
            </a:r>
            <a:r>
              <a:rPr lang="it-IT" sz="1000" b="0" u="none" strike="noStrike">
                <a:solidFill>
                  <a:srgbClr val="000000"/>
                </a:solidFill>
                <a:effectLst/>
                <a:uFillTx/>
                <a:latin typeface="Segoe UI Semibold"/>
              </a:rPr>
              <a:t> </a:t>
            </a:r>
            <a:r>
              <a:rPr lang="it-IT" sz="1400" b="0" u="none" strike="noStrike">
                <a:solidFill>
                  <a:srgbClr val="000000"/>
                </a:solidFill>
                <a:effectLst/>
                <a:uFillTx/>
                <a:latin typeface="Segoe UI"/>
              </a:rPr>
              <a:t>3 pages (Country Overview → State Overview → Town Detail).</a:t>
            </a:r>
            <a:endParaRPr lang="it-IT" sz="14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Dynamic Features</a:t>
            </a:r>
            <a:r>
              <a:rPr lang="it-IT" sz="1400" b="0" u="none" strike="noStrike">
                <a:solidFill>
                  <a:srgbClr val="000000"/>
                </a:solidFill>
                <a:effectLst/>
                <a:uFillTx/>
                <a:latin typeface="Segoe UI Semibold"/>
              </a:rPr>
              <a:t>:</a:t>
            </a:r>
            <a:r>
              <a:rPr lang="it-IT" sz="1000" b="0" u="none" strike="noStrike">
                <a:solidFill>
                  <a:srgbClr val="000000"/>
                </a:solidFill>
                <a:effectLst/>
                <a:uFillTx/>
                <a:latin typeface="Segoe UI Semibold"/>
              </a:rPr>
              <a:t> </a:t>
            </a:r>
            <a:r>
              <a:rPr lang="it-IT" sz="1300" b="0" u="none" strike="noStrike">
                <a:solidFill>
                  <a:srgbClr val="000000"/>
                </a:solidFill>
                <a:effectLst/>
                <a:uFillTx/>
                <a:latin typeface="Segoe UI"/>
              </a:rPr>
              <a:t>Field Parameters for on-the-fly metric switching, Shape Maps with risk gradients,  Drillthrough navigation, Year slicer and Page navigator.</a:t>
            </a:r>
            <a:endParaRPr lang="it-IT" sz="13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Storytelling</a:t>
            </a:r>
            <a:r>
              <a:rPr lang="it-IT" sz="1400" b="0" u="none" strike="noStrike">
                <a:solidFill>
                  <a:srgbClr val="000000"/>
                </a:solidFill>
                <a:effectLst/>
                <a:uFillTx/>
                <a:latin typeface="Segoe UI Semibold"/>
              </a:rPr>
              <a:t>:</a:t>
            </a:r>
            <a:r>
              <a:rPr lang="it-IT" sz="1000" b="0" u="none" strike="noStrike">
                <a:solidFill>
                  <a:srgbClr val="000000"/>
                </a:solidFill>
                <a:effectLst/>
                <a:uFillTx/>
                <a:latin typeface="Segoe UI Semibold"/>
              </a:rPr>
              <a:t> </a:t>
            </a:r>
            <a:r>
              <a:rPr lang="it-IT" sz="1300" b="0" u="none" strike="noStrike">
                <a:solidFill>
                  <a:srgbClr val="000000"/>
                </a:solidFill>
                <a:effectLst/>
                <a:uFillTx/>
                <a:latin typeface="Segoe UI"/>
              </a:rPr>
              <a:t>DAX-generated dynamic narratives summarizing insights and providing an "Investment Verdict" for each town in Town detail page.</a:t>
            </a:r>
            <a:endParaRPr lang="it-IT" sz="1300" b="0" u="none" strike="noStrike">
              <a:solidFill>
                <a:srgbClr val="000000"/>
              </a:solidFill>
              <a:effectLst/>
              <a:uFillTx/>
              <a:latin typeface="Arial"/>
            </a:endParaRPr>
          </a:p>
          <a:p>
            <a:pPr>
              <a:lnSpc>
                <a:spcPct val="100000"/>
              </a:lnSpc>
            </a:pPr>
            <a:endParaRPr lang="it-IT" sz="1000" b="0" u="none" strike="noStrike">
              <a:solidFill>
                <a:srgbClr val="000000"/>
              </a:solidFill>
              <a:effectLst/>
              <a:uFillTx/>
              <a:latin typeface="Arial"/>
            </a:endParaRPr>
          </a:p>
        </p:txBody>
      </p:sp>
      <p:pic>
        <p:nvPicPr>
          <p:cNvPr id="60" name=""/>
          <p:cNvPicPr/>
          <p:nvPr/>
        </p:nvPicPr>
        <p:blipFill>
          <a:blip r:embed="rId1"/>
          <a:stretch/>
        </p:blipFill>
        <p:spPr>
          <a:xfrm rot="21593400">
            <a:off x="5040720" y="1261080"/>
            <a:ext cx="2372040" cy="1334160"/>
          </a:xfrm>
          <a:prstGeom prst="rect">
            <a:avLst/>
          </a:prstGeom>
          <a:noFill/>
          <a:ln w="0">
            <a:noFill/>
          </a:ln>
        </p:spPr>
      </p:pic>
      <p:pic>
        <p:nvPicPr>
          <p:cNvPr id="61" name=""/>
          <p:cNvPicPr/>
          <p:nvPr/>
        </p:nvPicPr>
        <p:blipFill>
          <a:blip r:embed="rId2"/>
          <a:stretch/>
        </p:blipFill>
        <p:spPr>
          <a:xfrm>
            <a:off x="7560000" y="1260000"/>
            <a:ext cx="2339640" cy="1312920"/>
          </a:xfrm>
          <a:prstGeom prst="rect">
            <a:avLst/>
          </a:prstGeom>
          <a:noFill/>
          <a:ln w="0">
            <a:noFill/>
          </a:ln>
        </p:spPr>
      </p:pic>
      <p:pic>
        <p:nvPicPr>
          <p:cNvPr id="62" name=""/>
          <p:cNvPicPr/>
          <p:nvPr/>
        </p:nvPicPr>
        <p:blipFill>
          <a:blip r:embed="rId3"/>
          <a:stretch/>
        </p:blipFill>
        <p:spPr>
          <a:xfrm>
            <a:off x="6300000" y="2802960"/>
            <a:ext cx="2699640" cy="1516680"/>
          </a:xfrm>
          <a:prstGeom prst="rect">
            <a:avLst/>
          </a:prstGeom>
          <a:noFill/>
          <a:ln w="0">
            <a:noFill/>
          </a:ln>
        </p:spPr>
      </p:pic>
      <p:sp>
        <p:nvSpPr>
          <p:cNvPr id="63" name=""/>
          <p:cNvSpPr/>
          <p:nvPr/>
        </p:nvSpPr>
        <p:spPr>
          <a:xfrm>
            <a:off x="540000" y="4071240"/>
            <a:ext cx="2879640" cy="4284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it-IT" sz="1000" b="0" u="none" strike="noStrike">
                <a:solidFill>
                  <a:srgbClr val="000000"/>
                </a:solidFill>
                <a:effectLst/>
                <a:uFillTx/>
                <a:latin typeface="Segoe UI"/>
              </a:rPr>
              <a:t>View screenshots in screenshots\ folder or dashoboard.pbix to further details</a:t>
            </a:r>
            <a:endParaRPr lang="it-IT"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504000" y="225360"/>
            <a:ext cx="9071280" cy="946800"/>
          </a:xfrm>
          <a:prstGeom prst="rect">
            <a:avLst/>
          </a:prstGeom>
          <a:solidFill>
            <a:srgbClr val="666666"/>
          </a:solidFill>
          <a:ln w="0">
            <a:noFill/>
          </a:ln>
        </p:spPr>
        <p:txBody>
          <a:bodyPr lIns="0" tIns="0" rIns="0" bIns="0" anchor="ctr">
            <a:spAutoFit/>
          </a:bodyPr>
          <a:p>
            <a:pPr indent="0" algn="ctr">
              <a:lnSpc>
                <a:spcPct val="100000"/>
              </a:lnSpc>
              <a:buNone/>
              <a:tabLst>
                <a:tab pos="0" algn="l"/>
              </a:tabLst>
            </a:pPr>
            <a:r>
              <a:rPr lang="it-IT" sz="3200" b="0" u="none" strike="noStrike">
                <a:solidFill>
                  <a:srgbClr val="FFFFFF"/>
                </a:solidFill>
                <a:effectLst/>
                <a:uFillTx/>
                <a:latin typeface="Segoe UI Semibold"/>
              </a:rPr>
              <a:t>Key findings and Takeaways</a:t>
            </a:r>
            <a:endParaRPr lang="it-IT" sz="3200" b="0" u="none" strike="noStrike">
              <a:solidFill>
                <a:srgbClr val="000000"/>
              </a:solidFill>
              <a:effectLst/>
              <a:uFillTx/>
              <a:latin typeface="Arial"/>
            </a:endParaRPr>
          </a:p>
        </p:txBody>
      </p:sp>
      <p:grpSp>
        <p:nvGrpSpPr>
          <p:cNvPr id="65" name=""/>
          <p:cNvGrpSpPr/>
          <p:nvPr/>
        </p:nvGrpSpPr>
        <p:grpSpPr>
          <a:xfrm>
            <a:off x="360000" y="5040000"/>
            <a:ext cx="9179640" cy="539640"/>
            <a:chOff x="360000" y="5040000"/>
            <a:chExt cx="9179640" cy="539640"/>
          </a:xfrm>
        </p:grpSpPr>
        <p:sp>
          <p:nvSpPr>
            <p:cNvPr id="66" name=""/>
            <p:cNvSpPr/>
            <p:nvPr/>
          </p:nvSpPr>
          <p:spPr>
            <a:xfrm>
              <a:off x="36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Problem</a:t>
              </a:r>
              <a:endParaRPr lang="it-IT" sz="1400" b="0" u="none" strike="noStrike">
                <a:solidFill>
                  <a:srgbClr val="000000"/>
                </a:solidFill>
                <a:effectLst/>
                <a:uFillTx/>
                <a:latin typeface="Arial"/>
              </a:endParaRPr>
            </a:p>
          </p:txBody>
        </p:sp>
        <p:sp>
          <p:nvSpPr>
            <p:cNvPr id="67" name=""/>
            <p:cNvSpPr/>
            <p:nvPr/>
          </p:nvSpPr>
          <p:spPr>
            <a:xfrm>
              <a:off x="234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Extract and Clean data</a:t>
              </a:r>
              <a:endParaRPr lang="it-IT" sz="1400" b="0" u="none" strike="noStrike">
                <a:solidFill>
                  <a:srgbClr val="000000"/>
                </a:solidFill>
                <a:effectLst/>
                <a:uFillTx/>
                <a:latin typeface="Arial"/>
              </a:endParaRPr>
            </a:p>
          </p:txBody>
        </p:sp>
        <p:sp>
          <p:nvSpPr>
            <p:cNvPr id="68" name=""/>
            <p:cNvSpPr/>
            <p:nvPr/>
          </p:nvSpPr>
          <p:spPr>
            <a:xfrm>
              <a:off x="432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EDA and Clustering</a:t>
              </a:r>
              <a:endParaRPr lang="it-IT" sz="1400" b="0" u="none" strike="noStrike">
                <a:solidFill>
                  <a:srgbClr val="000000"/>
                </a:solidFill>
                <a:effectLst/>
                <a:uFillTx/>
                <a:latin typeface="Arial"/>
              </a:endParaRPr>
            </a:p>
          </p:txBody>
        </p:sp>
        <p:sp>
          <p:nvSpPr>
            <p:cNvPr id="69" name=""/>
            <p:cNvSpPr/>
            <p:nvPr/>
          </p:nvSpPr>
          <p:spPr>
            <a:xfrm>
              <a:off x="6300000" y="5040000"/>
              <a:ext cx="1259640" cy="539640"/>
            </a:xfrm>
            <a:prstGeom prst="rect">
              <a:avLst/>
            </a:prstGeom>
            <a:solidFill>
              <a:srgbClr val="D3D3D3"/>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000000"/>
                  </a:solidFill>
                  <a:effectLst/>
                  <a:uFillTx/>
                  <a:latin typeface="Segoe UI Semibold"/>
                  <a:ea typeface="DejaVu Sans"/>
                </a:rPr>
                <a:t>Power Bi  Dashboard</a:t>
              </a:r>
              <a:endParaRPr lang="it-IT" sz="1400" b="0" u="none" strike="noStrike">
                <a:solidFill>
                  <a:srgbClr val="000000"/>
                </a:solidFill>
                <a:effectLst/>
                <a:uFillTx/>
                <a:latin typeface="Arial"/>
              </a:endParaRPr>
            </a:p>
          </p:txBody>
        </p:sp>
        <p:sp>
          <p:nvSpPr>
            <p:cNvPr id="70" name=""/>
            <p:cNvSpPr/>
            <p:nvPr/>
          </p:nvSpPr>
          <p:spPr>
            <a:xfrm>
              <a:off x="8280000" y="5040000"/>
              <a:ext cx="1259640" cy="539640"/>
            </a:xfrm>
            <a:prstGeom prst="rect">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pPr algn="ctr">
                <a:lnSpc>
                  <a:spcPct val="100000"/>
                </a:lnSpc>
              </a:pPr>
              <a:r>
                <a:rPr lang="it-IT" sz="1400" b="0" u="none" strike="noStrike">
                  <a:solidFill>
                    <a:srgbClr val="FFFFFF"/>
                  </a:solidFill>
                  <a:effectLst/>
                  <a:uFillTx/>
                  <a:latin typeface="Segoe UI Semibold"/>
                  <a:ea typeface="DejaVu Sans"/>
                </a:rPr>
                <a:t>Key Findings</a:t>
              </a:r>
              <a:endParaRPr lang="it-IT" sz="1400" b="0" u="none" strike="noStrike">
                <a:solidFill>
                  <a:srgbClr val="FFFFFF"/>
                </a:solidFill>
                <a:effectLst/>
                <a:uFillTx/>
                <a:latin typeface="Arial"/>
              </a:endParaRPr>
            </a:p>
          </p:txBody>
        </p:sp>
        <p:sp>
          <p:nvSpPr>
            <p:cNvPr id="71" name=""/>
            <p:cNvSpPr/>
            <p:nvPr/>
          </p:nvSpPr>
          <p:spPr>
            <a:xfrm>
              <a:off x="1728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72" name=""/>
            <p:cNvSpPr/>
            <p:nvPr/>
          </p:nvSpPr>
          <p:spPr>
            <a:xfrm>
              <a:off x="367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73" name=""/>
            <p:cNvSpPr/>
            <p:nvPr/>
          </p:nvSpPr>
          <p:spPr>
            <a:xfrm>
              <a:off x="565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sp>
          <p:nvSpPr>
            <p:cNvPr id="74" name=""/>
            <p:cNvSpPr/>
            <p:nvPr/>
          </p:nvSpPr>
          <p:spPr>
            <a:xfrm>
              <a:off x="7632000" y="5220000"/>
              <a:ext cx="539640" cy="179640"/>
            </a:xfrm>
            <a:prstGeom prst="rightArrow">
              <a:avLst>
                <a:gd name="adj1" fmla="val 50000"/>
                <a:gd name="adj2" fmla="val 75000"/>
              </a:avLst>
            </a:prstGeom>
            <a:solidFill>
              <a:srgbClr val="666666"/>
            </a:solidFill>
            <a:ln w="0">
              <a:solidFill>
                <a:srgbClr val="000000"/>
              </a:solidFill>
            </a:ln>
          </p:spPr>
          <p:style>
            <a:lnRef idx="0"/>
            <a:fillRef idx="0"/>
            <a:effectRef idx="0"/>
            <a:fontRef idx="minor"/>
          </p:style>
          <p:txBody>
            <a:bodyPr lIns="90000" tIns="45000" rIns="90000" bIns="45000" anchor="ctr">
              <a:noAutofit/>
            </a:bodyPr>
            <a:p>
              <a:endParaRPr lang="it-IT" sz="1800" b="0" u="none" strike="noStrike">
                <a:solidFill>
                  <a:srgbClr val="FFFFFF"/>
                </a:solidFill>
                <a:effectLst/>
                <a:uFillTx/>
                <a:latin typeface="Arial"/>
              </a:endParaRPr>
            </a:p>
          </p:txBody>
        </p:sp>
      </p:grpSp>
      <p:sp>
        <p:nvSpPr>
          <p:cNvPr id="75" name=""/>
          <p:cNvSpPr/>
          <p:nvPr/>
        </p:nvSpPr>
        <p:spPr>
          <a:xfrm>
            <a:off x="540000" y="1908000"/>
            <a:ext cx="8819640" cy="234072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Severity vs. Volume</a:t>
            </a:r>
            <a:r>
              <a:rPr lang="it-IT" sz="1400" b="0" u="none" strike="noStrike">
                <a:solidFill>
                  <a:srgbClr val="000000"/>
                </a:solidFill>
                <a:effectLst/>
                <a:uFillTx/>
                <a:latin typeface="Segoe UI Semibold"/>
              </a:rPr>
              <a:t>:</a:t>
            </a:r>
            <a:r>
              <a:rPr lang="it-IT" sz="1000" b="0" u="none" strike="noStrike">
                <a:solidFill>
                  <a:srgbClr val="000000"/>
                </a:solidFill>
                <a:effectLst/>
                <a:uFillTx/>
                <a:latin typeface="Arial"/>
              </a:rPr>
              <a:t> </a:t>
            </a:r>
            <a:r>
              <a:rPr lang="it-IT" sz="1300" b="0" u="none" strike="noStrike">
                <a:solidFill>
                  <a:srgbClr val="000000"/>
                </a:solidFill>
                <a:effectLst/>
                <a:uFillTx/>
                <a:latin typeface="Segoe UI"/>
              </a:rPr>
              <a:t>Risk concentrates where severity is disproportionate, not where accident volume is highest (e.g., large cities).</a:t>
            </a:r>
            <a:endParaRPr lang="it-IT" sz="13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North vs. South</a:t>
            </a:r>
            <a:r>
              <a:rPr lang="it-IT" sz="1400" b="0" u="none" strike="noStrike">
                <a:solidFill>
                  <a:srgbClr val="000000"/>
                </a:solidFill>
                <a:effectLst/>
                <a:uFillTx/>
                <a:latin typeface="Segoe UI Semibold"/>
              </a:rPr>
              <a:t>:</a:t>
            </a:r>
            <a:r>
              <a:rPr lang="it-IT" sz="1000" b="0" u="none" strike="noStrike">
                <a:solidFill>
                  <a:srgbClr val="000000"/>
                </a:solidFill>
                <a:effectLst/>
                <a:uFillTx/>
                <a:latin typeface="Arial"/>
              </a:rPr>
              <a:t> </a:t>
            </a:r>
            <a:r>
              <a:rPr lang="it-IT" sz="1300" b="0" u="none" strike="noStrike">
                <a:solidFill>
                  <a:srgbClr val="000000"/>
                </a:solidFill>
                <a:effectLst/>
                <a:uFillTx/>
                <a:latin typeface="Segoe UI"/>
              </a:rPr>
              <a:t>Southern regions have lower overall accidents but higher average fatality rates, suggesting infrastructure or emergency response gaps.</a:t>
            </a:r>
            <a:endParaRPr lang="it-IT" sz="13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it-IT" sz="1800" b="1" i="1" u="none" strike="noStrike">
                <a:solidFill>
                  <a:srgbClr val="000000"/>
                </a:solidFill>
                <a:effectLst/>
                <a:uFillTx/>
                <a:latin typeface="Segoe UI Semibold"/>
              </a:rPr>
              <a:t>Historical Trend</a:t>
            </a:r>
            <a:r>
              <a:rPr lang="it-IT" sz="1400" b="0" u="none" strike="noStrike">
                <a:solidFill>
                  <a:srgbClr val="000000"/>
                </a:solidFill>
                <a:effectLst/>
                <a:uFillTx/>
                <a:latin typeface="Segoe UI Semibold"/>
              </a:rPr>
              <a:t>:</a:t>
            </a:r>
            <a:r>
              <a:rPr lang="it-IT" sz="1000" b="0" u="none" strike="noStrike">
                <a:solidFill>
                  <a:srgbClr val="000000"/>
                </a:solidFill>
                <a:effectLst/>
                <a:uFillTx/>
                <a:latin typeface="Arial"/>
              </a:rPr>
              <a:t> </a:t>
            </a:r>
            <a:r>
              <a:rPr lang="it-IT" sz="1300" b="0" u="none" strike="noStrike">
                <a:solidFill>
                  <a:srgbClr val="000000"/>
                </a:solidFill>
                <a:effectLst/>
                <a:uFillTx/>
                <a:latin typeface="Segoe UI"/>
              </a:rPr>
              <a:t>A clear decline in accidents since 2001 (likely due to policy/awareness), accelerated further in 2020–2021 due to the COVID-19 pandemic, which drastically reduced traffic on the roads.</a:t>
            </a:r>
            <a:endParaRPr lang="it-IT" sz="1300" b="0" u="none" strike="noStrike">
              <a:solidFill>
                <a:srgbClr val="000000"/>
              </a:solidFill>
              <a:effectLst/>
              <a:uFillTx/>
              <a:latin typeface="Arial"/>
            </a:endParaRPr>
          </a:p>
          <a:p>
            <a:pPr>
              <a:lnSpc>
                <a:spcPct val="100000"/>
              </a:lnSpc>
            </a:pPr>
            <a:endParaRPr lang="it-IT"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62</TotalTime>
  <Application>LibreOffice/26.2.5.2$Windows_X86_64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2026-08-02T13:49:31Z</dcterms:created>
  <dc:creator/>
  <dc:description/>
  <dc:language>it-IT</dc:language>
  <cp:lastModifiedBy/>
  <dcterms:modified xsi:type="dcterms:W3CDTF">2026-08-02T16:17:11Z</dcterms:modified>
  <cp:revision>14</cp:revision>
  <dc:subject/>
  <dc:title/>
</cp:coreProperties>
</file>

<file path=docProps/custom.xml><?xml version="1.0" encoding="utf-8"?>
<Properties xmlns="http://schemas.openxmlformats.org/officeDocument/2006/custom-properties" xmlns:vt="http://schemas.openxmlformats.org/officeDocument/2006/docPropsVTypes"/>
</file>